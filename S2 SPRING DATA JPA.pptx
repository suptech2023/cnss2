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80" r:id="rId6"/>
    <p:sldId id="28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2" r:id="rId28"/>
    <p:sldId id="283" r:id="rId29"/>
    <p:sldId id="284" r:id="rId30"/>
    <p:sldId id="285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18" r:id="rId64"/>
    <p:sldId id="319" r:id="rId65"/>
    <p:sldId id="320" r:id="rId66"/>
    <p:sldId id="321" r:id="rId67"/>
    <p:sldId id="322" r:id="rId68"/>
    <p:sldId id="330" r:id="rId69"/>
    <p:sldId id="323" r:id="rId70"/>
    <p:sldId id="331" r:id="rId71"/>
    <p:sldId id="324" r:id="rId72"/>
    <p:sldId id="332" r:id="rId73"/>
    <p:sldId id="325" r:id="rId74"/>
    <p:sldId id="333" r:id="rId75"/>
    <p:sldId id="334" r:id="rId76"/>
    <p:sldId id="326" r:id="rId77"/>
    <p:sldId id="327" r:id="rId78"/>
    <p:sldId id="328" r:id="rId79"/>
    <p:sldId id="329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11/4/2025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swagger-ui/index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swagger-ui/index.html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SPRING DATA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Faciliter l’accès aux </a:t>
            </a:r>
            <a:r>
              <a:rPr lang="fr-FR" sz="2800" b="1" dirty="0" smtClean="0"/>
              <a:t>données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20801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88038" y="160338"/>
            <a:ext cx="7024744" cy="74515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err="1"/>
              <a:t>Spring</a:t>
            </a:r>
            <a:r>
              <a:rPr lang="fr-FR" sz="5400" dirty="0"/>
              <a:t> DATA</a:t>
            </a:r>
          </a:p>
        </p:txBody>
      </p:sp>
      <p:sp>
        <p:nvSpPr>
          <p:cNvPr id="4" name="AutoShape 2" descr="Image associÃ©e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37" y="1304818"/>
            <a:ext cx="9164547" cy="47884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53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67490" y="620688"/>
            <a:ext cx="7024744" cy="60113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err="1"/>
              <a:t>Spring</a:t>
            </a:r>
            <a:r>
              <a:rPr lang="fr-FR" b="1" dirty="0"/>
              <a:t> DATA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4544" y="1412776"/>
            <a:ext cx="9657708" cy="4968552"/>
          </a:xfrm>
        </p:spPr>
        <p:txBody>
          <a:bodyPr>
            <a:normAutofit fontScale="92500"/>
          </a:bodyPr>
          <a:lstStyle/>
          <a:p>
            <a:pPr marL="68580" indent="0" algn="just">
              <a:lnSpc>
                <a:spcPct val="170000"/>
              </a:lnSpc>
              <a:buNone/>
            </a:pPr>
            <a:r>
              <a:rPr lang="fr-FR" dirty="0" err="1"/>
              <a:t>Spring</a:t>
            </a:r>
            <a:r>
              <a:rPr lang="fr-FR" dirty="0"/>
              <a:t> Data est un robuste </a:t>
            </a:r>
            <a:r>
              <a:rPr lang="fr-FR" dirty="0" err="1"/>
              <a:t>framework</a:t>
            </a:r>
            <a:r>
              <a:rPr lang="fr-FR" dirty="0"/>
              <a:t> de l’écosystème de </a:t>
            </a:r>
            <a:r>
              <a:rPr lang="fr-FR" dirty="0" err="1"/>
              <a:t>Spring</a:t>
            </a:r>
            <a:r>
              <a:rPr lang="fr-FR" dirty="0"/>
              <a:t> qui se compose de nombreux modules offrant d’accéder des solutions de données alternatives comme </a:t>
            </a:r>
            <a:r>
              <a:rPr lang="fr-FR" dirty="0" smtClean="0"/>
              <a:t>: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err="1" smtClean="0"/>
              <a:t>GemFire</a:t>
            </a:r>
            <a:r>
              <a:rPr lang="fr-FR" dirty="0" smtClean="0"/>
              <a:t> </a:t>
            </a:r>
            <a:r>
              <a:rPr lang="fr-FR" dirty="0"/>
              <a:t>: Cache distribué.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err="1" smtClean="0"/>
              <a:t>MongoDB</a:t>
            </a:r>
            <a:r>
              <a:rPr lang="fr-FR" dirty="0" smtClean="0"/>
              <a:t> </a:t>
            </a:r>
            <a:r>
              <a:rPr lang="fr-FR" dirty="0"/>
              <a:t>: Base </a:t>
            </a:r>
            <a:r>
              <a:rPr lang="fr-FR" dirty="0" err="1"/>
              <a:t>NoSQL</a:t>
            </a:r>
            <a:r>
              <a:rPr lang="fr-FR" dirty="0"/>
              <a:t>, orienté « document »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smtClean="0"/>
              <a:t>Neo4J</a:t>
            </a:r>
            <a:r>
              <a:rPr lang="fr-FR" dirty="0" smtClean="0"/>
              <a:t> </a:t>
            </a:r>
            <a:r>
              <a:rPr lang="fr-FR" dirty="0"/>
              <a:t>: Base structurée autour de structures de Graphes.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smtClean="0"/>
              <a:t>Redis</a:t>
            </a:r>
            <a:r>
              <a:rPr lang="fr-FR" dirty="0" smtClean="0"/>
              <a:t> </a:t>
            </a:r>
            <a:r>
              <a:rPr lang="fr-FR" dirty="0"/>
              <a:t>: Système de données par « clé/valeur » </a:t>
            </a:r>
            <a:endParaRPr lang="fr-FR" dirty="0" smtClean="0"/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b="1" dirty="0" err="1" smtClean="0"/>
              <a:t>Solr</a:t>
            </a:r>
            <a:r>
              <a:rPr lang="fr-FR" dirty="0" smtClean="0"/>
              <a:t> </a:t>
            </a:r>
            <a:r>
              <a:rPr lang="fr-FR" dirty="0"/>
              <a:t>: Plateforme s’appuyant sur le moteur de recherche </a:t>
            </a:r>
            <a:r>
              <a:rPr lang="fr-FR" dirty="0" err="1"/>
              <a:t>Lucène</a:t>
            </a:r>
            <a:r>
              <a:rPr lang="fr-FR" dirty="0" smtClean="0"/>
              <a:t>.</a:t>
            </a:r>
          </a:p>
          <a:p>
            <a:pPr algn="just">
              <a:lnSpc>
                <a:spcPct val="170000"/>
              </a:lnSpc>
              <a:buFont typeface="Wingdings" pitchFamily="2" charset="2"/>
              <a:buChar char="ü"/>
            </a:pPr>
            <a:r>
              <a:rPr lang="fr-FR" dirty="0" smtClean="0"/>
              <a:t>et </a:t>
            </a:r>
            <a:r>
              <a:rPr lang="fr-FR" b="1" dirty="0"/>
              <a:t>JPA</a:t>
            </a:r>
            <a:r>
              <a:rPr lang="fr-FR" dirty="0"/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187173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673144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err="1" smtClean="0"/>
              <a:t>Spring</a:t>
            </a:r>
            <a:r>
              <a:rPr lang="fr-FR" b="1" dirty="0" smtClean="0"/>
              <a:t> Data JPA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Spring</a:t>
            </a:r>
            <a:r>
              <a:rPr lang="fr-FR" sz="2800" b="1" dirty="0"/>
              <a:t> Data JPA </a:t>
            </a:r>
            <a:r>
              <a:rPr lang="fr-FR" sz="2800" dirty="0"/>
              <a:t>met en place une surcouche d’accès à JPA, et fournit donc ainsi un ensemble cohérent de fonctionnalités avancées sur lesquels s’appuyer pour bâtir et consolider ses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81445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7908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Configuration de la base de </a:t>
            </a:r>
            <a:r>
              <a:rPr lang="fr-FR" dirty="0" smtClean="0"/>
              <a:t>données – PostgreSQL -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59622" y="1818526"/>
            <a:ext cx="8517277" cy="46233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083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1196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Configuration de la base de </a:t>
            </a:r>
            <a:r>
              <a:rPr lang="fr-FR" dirty="0" smtClean="0"/>
              <a:t>données – MySQL -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67798" y="1674688"/>
            <a:ext cx="9462499" cy="4623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39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67490" y="1099672"/>
            <a:ext cx="7024744" cy="60113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Mise en place de </a:t>
            </a:r>
            <a:r>
              <a:rPr lang="fr-FR" b="1" dirty="0" err="1" smtClean="0"/>
              <a:t>Spring</a:t>
            </a:r>
            <a:r>
              <a:rPr lang="fr-FR" b="1" dirty="0" smtClean="0"/>
              <a:t> Data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45914" y="2070767"/>
            <a:ext cx="9832369" cy="4059813"/>
          </a:xfrm>
        </p:spPr>
        <p:txBody>
          <a:bodyPr>
            <a:normAutofit/>
          </a:bodyPr>
          <a:lstStyle/>
          <a:p>
            <a:pPr algn="just">
              <a:lnSpc>
                <a:spcPct val="300000"/>
              </a:lnSpc>
            </a:pPr>
            <a:r>
              <a:rPr lang="fr-FR" sz="2800" dirty="0" smtClean="0"/>
              <a:t>Créer l’interface : </a:t>
            </a:r>
            <a:r>
              <a:rPr lang="fr-FR" sz="2800" b="1" dirty="0" err="1" smtClean="0"/>
              <a:t>EmployesRepository</a:t>
            </a:r>
            <a:r>
              <a:rPr lang="fr-FR" sz="2800" b="1" dirty="0" smtClean="0"/>
              <a:t> </a:t>
            </a:r>
            <a:r>
              <a:rPr lang="fr-FR" sz="2800" dirty="0" smtClean="0"/>
              <a:t>sous la package dao qui hérite de </a:t>
            </a:r>
            <a:r>
              <a:rPr lang="fr-FR" sz="2800" b="1" dirty="0" err="1" smtClean="0"/>
              <a:t>JpaRepository</a:t>
            </a:r>
            <a:r>
              <a:rPr lang="fr-FR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54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Test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fr-FR" dirty="0" smtClean="0"/>
              <a:t>Utilisation de l’application </a:t>
            </a:r>
            <a:r>
              <a:rPr lang="fr-FR" b="1" dirty="0" err="1" smtClean="0"/>
              <a:t>Context</a:t>
            </a:r>
            <a:r>
              <a:rPr lang="fr-FR" dirty="0" smtClean="0"/>
              <a:t> afin de récupérer le Bean.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498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601136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La classe Main</a:t>
            </a:r>
            <a:endParaRPr lang="fr-FR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1724025"/>
            <a:ext cx="8208912" cy="47293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5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63553" y="1027664"/>
            <a:ext cx="7992888" cy="817160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Amélioration </a:t>
            </a:r>
            <a:r>
              <a:rPr lang="fr-FR" b="1" dirty="0" err="1" smtClean="0"/>
              <a:t>Spring</a:t>
            </a:r>
            <a:r>
              <a:rPr lang="fr-FR" b="1" dirty="0" smtClean="0"/>
              <a:t> Data</a:t>
            </a:r>
            <a:endParaRPr lang="fr-FR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3" y="2132856"/>
            <a:ext cx="7992888" cy="40324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585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8000" dirty="0"/>
              <a:t>TEST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300000"/>
              </a:lnSpc>
            </a:pPr>
            <a:r>
              <a:rPr lang="fr-FR" sz="4000" b="1" dirty="0" err="1"/>
              <a:t>findAll</a:t>
            </a:r>
            <a:r>
              <a:rPr lang="fr-FR" sz="4000" b="1" dirty="0"/>
              <a:t>()</a:t>
            </a:r>
          </a:p>
          <a:p>
            <a:pPr>
              <a:lnSpc>
                <a:spcPct val="300000"/>
              </a:lnSpc>
            </a:pPr>
            <a:r>
              <a:rPr lang="fr-FR" sz="4000" b="1" dirty="0" err="1"/>
              <a:t>Listmp</a:t>
            </a:r>
            <a:r>
              <a:rPr lang="fr-FR" sz="4000" b="1" dirty="0"/>
              <a:t>()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28135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SPRING BOOT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API RESTFUL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760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3200" dirty="0" err="1"/>
              <a:t>Spring</a:t>
            </a:r>
            <a:r>
              <a:rPr lang="fr-FR" sz="3200" dirty="0"/>
              <a:t> Boot est un </a:t>
            </a:r>
            <a:r>
              <a:rPr lang="fr-FR" sz="3200" dirty="0" smtClean="0"/>
              <a:t>Framework </a:t>
            </a:r>
            <a:r>
              <a:rPr lang="fr-FR" sz="3200" dirty="0"/>
              <a:t>Java qui facilite la création d'API </a:t>
            </a:r>
            <a:r>
              <a:rPr lang="fr-FR" sz="3200" b="1" dirty="0" err="1"/>
              <a:t>RESTful</a:t>
            </a:r>
            <a:r>
              <a:rPr lang="fr-FR" sz="3200" dirty="0"/>
              <a:t> robustes et évolutives en simplifiant la configuration et le déploiement des applications </a:t>
            </a:r>
            <a:r>
              <a:rPr lang="fr-FR" sz="3200" dirty="0" err="1"/>
              <a:t>Spring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655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Avantages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720716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Les </a:t>
            </a:r>
            <a:r>
              <a:rPr lang="fr-FR" sz="2800" b="1" dirty="0"/>
              <a:t>API </a:t>
            </a:r>
            <a:r>
              <a:rPr lang="fr-FR" sz="2800" b="1" dirty="0" err="1"/>
              <a:t>RESTful</a:t>
            </a:r>
            <a:r>
              <a:rPr lang="fr-FR" sz="2800" dirty="0"/>
              <a:t> offrent plusieurs avantages, notamment </a:t>
            </a:r>
            <a:r>
              <a:rPr lang="fr-FR" sz="2800" dirty="0" smtClean="0"/>
              <a:t>: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Simplicité et </a:t>
            </a:r>
            <a:r>
              <a:rPr lang="fr-FR" sz="2400" dirty="0" smtClean="0"/>
              <a:t>standardisation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Indépendance entre le client et le </a:t>
            </a:r>
            <a:r>
              <a:rPr lang="fr-FR" sz="2400" dirty="0" smtClean="0"/>
              <a:t>serveur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dirty="0" err="1"/>
              <a:t>Scalabilité</a:t>
            </a:r>
            <a:r>
              <a:rPr lang="fr-FR" sz="2400" dirty="0"/>
              <a:t> et </a:t>
            </a:r>
            <a:r>
              <a:rPr lang="fr-FR" sz="2400" dirty="0" smtClean="0"/>
              <a:t>performance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Séparation des </a:t>
            </a:r>
            <a:r>
              <a:rPr lang="fr-FR" sz="2400" dirty="0" smtClean="0"/>
              <a:t>responsabilités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Sécurité et </a:t>
            </a:r>
            <a:r>
              <a:rPr lang="fr-FR" sz="2400" dirty="0" smtClean="0"/>
              <a:t>flexibilité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dirty="0"/>
              <a:t>Compatibilité avec différentes plateformes</a:t>
            </a:r>
          </a:p>
        </p:txBody>
      </p:sp>
    </p:spTree>
    <p:extLst>
      <p:ext uri="{BB962C8B-B14F-4D97-AF65-F5344CB8AC3E}">
        <p14:creationId xmlns:p14="http://schemas.microsoft.com/office/powerpoint/2010/main" val="42351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Simplicité et </a:t>
            </a:r>
            <a:r>
              <a:rPr lang="fr-FR" dirty="0" smtClean="0"/>
              <a:t>standardisation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Utilise des méthodes HTTP standard : GET, POST, PUT, DELETE, etc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Basée </a:t>
            </a:r>
            <a:r>
              <a:rPr lang="fr-FR" sz="2400" dirty="0"/>
              <a:t>sur une structure URL claire et compréhensible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Format </a:t>
            </a:r>
            <a:r>
              <a:rPr lang="fr-FR" sz="2400" dirty="0"/>
              <a:t>de réponse JSON ou XML, facilement lisible et interprétable.</a:t>
            </a:r>
          </a:p>
        </p:txBody>
      </p:sp>
    </p:spTree>
    <p:extLst>
      <p:ext uri="{BB962C8B-B14F-4D97-AF65-F5344CB8AC3E}">
        <p14:creationId xmlns:p14="http://schemas.microsoft.com/office/powerpoint/2010/main" val="373498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Indépendance entre le client et le </a:t>
            </a:r>
            <a:r>
              <a:rPr lang="fr-FR" sz="4400" dirty="0" smtClean="0"/>
              <a:t>serveur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Le </a:t>
            </a:r>
            <a:r>
              <a:rPr lang="fr-FR" sz="2800" b="1" dirty="0" err="1"/>
              <a:t>backend</a:t>
            </a:r>
            <a:r>
              <a:rPr lang="fr-FR" sz="2800" dirty="0"/>
              <a:t> et le </a:t>
            </a:r>
            <a:r>
              <a:rPr lang="fr-FR" sz="2800" b="1" dirty="0" err="1"/>
              <a:t>frontend</a:t>
            </a:r>
            <a:r>
              <a:rPr lang="fr-FR" sz="2800" dirty="0"/>
              <a:t> peuvent être développés indépendamment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 smtClean="0"/>
              <a:t>Un </a:t>
            </a:r>
            <a:r>
              <a:rPr lang="fr-FR" sz="2800" dirty="0"/>
              <a:t>même serveur peut servir plusieurs clients (</a:t>
            </a:r>
            <a:r>
              <a:rPr lang="fr-FR" sz="2800" b="1" dirty="0"/>
              <a:t>web</a:t>
            </a:r>
            <a:r>
              <a:rPr lang="fr-FR" sz="2800" dirty="0"/>
              <a:t>, </a:t>
            </a:r>
            <a:r>
              <a:rPr lang="fr-FR" sz="2800" b="1" dirty="0"/>
              <a:t>mobile</a:t>
            </a:r>
            <a:r>
              <a:rPr lang="fr-FR" sz="2800" dirty="0"/>
              <a:t>, </a:t>
            </a:r>
            <a:r>
              <a:rPr lang="fr-FR" sz="2800" b="1" dirty="0"/>
              <a:t>desktop</a:t>
            </a:r>
            <a:r>
              <a:rPr lang="fr-FR" sz="2800" dirty="0"/>
              <a:t>, </a:t>
            </a:r>
            <a:r>
              <a:rPr lang="fr-FR" sz="2800" b="1" dirty="0" err="1"/>
              <a:t>IoT</a:t>
            </a:r>
            <a:r>
              <a:rPr lang="fr-FR" sz="2800" dirty="0"/>
              <a:t>...).</a:t>
            </a:r>
          </a:p>
        </p:txBody>
      </p:sp>
    </p:spTree>
    <p:extLst>
      <p:ext uri="{BB962C8B-B14F-4D97-AF65-F5344CB8AC3E}">
        <p14:creationId xmlns:p14="http://schemas.microsoft.com/office/powerpoint/2010/main" val="80741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Scalabilité</a:t>
            </a:r>
            <a:r>
              <a:rPr lang="fr-FR" dirty="0"/>
              <a:t> et </a:t>
            </a:r>
            <a:r>
              <a:rPr lang="fr-FR" dirty="0" smtClean="0"/>
              <a:t>performance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Repose sur HTTP, un protocole léger et performant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 smtClean="0"/>
              <a:t>Peut </a:t>
            </a:r>
            <a:r>
              <a:rPr lang="fr-FR" sz="2800" dirty="0"/>
              <a:t>être mise en cache (</a:t>
            </a:r>
            <a:r>
              <a:rPr lang="fr-FR" sz="2800" dirty="0" err="1"/>
              <a:t>caching</a:t>
            </a:r>
            <a:r>
              <a:rPr lang="fr-FR" sz="2800" dirty="0"/>
              <a:t>) pour optimiser les performances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 smtClean="0"/>
              <a:t>Facilement </a:t>
            </a:r>
            <a:r>
              <a:rPr lang="fr-FR" sz="2800" dirty="0" err="1"/>
              <a:t>scalable</a:t>
            </a:r>
            <a:r>
              <a:rPr lang="fr-FR" sz="2800" dirty="0"/>
              <a:t> (ex. </a:t>
            </a:r>
            <a:r>
              <a:rPr lang="fr-FR" sz="2800" dirty="0" err="1"/>
              <a:t>microservices</a:t>
            </a:r>
            <a:r>
              <a:rPr lang="fr-FR" sz="2800" dirty="0"/>
              <a:t>, </a:t>
            </a:r>
            <a:r>
              <a:rPr lang="fr-FR" sz="2800" dirty="0" err="1"/>
              <a:t>load</a:t>
            </a:r>
            <a:r>
              <a:rPr lang="fr-FR" sz="2800" dirty="0"/>
              <a:t> </a:t>
            </a:r>
            <a:r>
              <a:rPr lang="fr-FR" sz="2800" dirty="0" err="1"/>
              <a:t>balancing</a:t>
            </a:r>
            <a:r>
              <a:rPr lang="fr-F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3862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Séparation des </a:t>
            </a:r>
            <a:r>
              <a:rPr lang="fr-FR" dirty="0" smtClean="0"/>
              <a:t>responsabilités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Permet une architecture modulaire et réutilisable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 smtClean="0"/>
              <a:t>Chaque </a:t>
            </a:r>
            <a:r>
              <a:rPr lang="fr-FR" sz="3200" dirty="0"/>
              <a:t>service peut évoluer indépendamment des autres.</a:t>
            </a:r>
          </a:p>
        </p:txBody>
      </p:sp>
    </p:spTree>
    <p:extLst>
      <p:ext uri="{BB962C8B-B14F-4D97-AF65-F5344CB8AC3E}">
        <p14:creationId xmlns:p14="http://schemas.microsoft.com/office/powerpoint/2010/main" val="369740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Sécurité et </a:t>
            </a:r>
            <a:r>
              <a:rPr lang="fr-FR" dirty="0" smtClean="0"/>
              <a:t>flexibilité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Compatible avec les standards </a:t>
            </a:r>
            <a:r>
              <a:rPr lang="fr-FR" sz="3200" b="1" dirty="0" err="1"/>
              <a:t>OAuth</a:t>
            </a:r>
            <a:r>
              <a:rPr lang="fr-FR" sz="3200" dirty="0"/>
              <a:t>, </a:t>
            </a:r>
            <a:r>
              <a:rPr lang="fr-FR" sz="3200" b="1" dirty="0"/>
              <a:t>JWT</a:t>
            </a:r>
            <a:r>
              <a:rPr lang="fr-FR" sz="3200" dirty="0"/>
              <a:t>, </a:t>
            </a:r>
            <a:r>
              <a:rPr lang="fr-FR" sz="3200" b="1" dirty="0"/>
              <a:t>API</a:t>
            </a:r>
            <a:r>
              <a:rPr lang="fr-FR" sz="3200" dirty="0"/>
              <a:t> </a:t>
            </a:r>
            <a:r>
              <a:rPr lang="fr-FR" sz="3200" b="1" dirty="0"/>
              <a:t>Keys</a:t>
            </a:r>
            <a:r>
              <a:rPr lang="fr-FR" sz="3200" dirty="0"/>
              <a:t> pour l’authentification</a:t>
            </a:r>
            <a:r>
              <a:rPr lang="fr-FR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3200" dirty="0" smtClean="0"/>
              <a:t>Peut </a:t>
            </a:r>
            <a:r>
              <a:rPr lang="fr-FR" sz="3200" dirty="0"/>
              <a:t>être protégée par </a:t>
            </a:r>
            <a:r>
              <a:rPr lang="fr-FR" sz="3200" b="1" dirty="0"/>
              <a:t>HTTPS</a:t>
            </a:r>
            <a:r>
              <a:rPr lang="fr-FR" sz="3200" dirty="0"/>
              <a:t> pour sécuriser les échanges.</a:t>
            </a:r>
          </a:p>
        </p:txBody>
      </p:sp>
    </p:spTree>
    <p:extLst>
      <p:ext uri="{BB962C8B-B14F-4D97-AF65-F5344CB8AC3E}">
        <p14:creationId xmlns:p14="http://schemas.microsoft.com/office/powerpoint/2010/main" val="339057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Compatibilité avec différentes </a:t>
            </a:r>
            <a:r>
              <a:rPr lang="fr-FR" sz="4400" dirty="0" smtClean="0"/>
              <a:t>plateformes</a:t>
            </a:r>
            <a:endParaRPr lang="fr-FR" sz="4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Fonctionne avec n'importe quel langage : </a:t>
            </a:r>
            <a:r>
              <a:rPr lang="fr-FR" sz="2800" b="1" dirty="0"/>
              <a:t>Java</a:t>
            </a:r>
            <a:r>
              <a:rPr lang="fr-FR" sz="2800" dirty="0"/>
              <a:t>, </a:t>
            </a:r>
            <a:r>
              <a:rPr lang="fr-FR" sz="2800" b="1" dirty="0"/>
              <a:t>JavaScript</a:t>
            </a:r>
            <a:r>
              <a:rPr lang="fr-FR" sz="2800" dirty="0"/>
              <a:t>, </a:t>
            </a:r>
            <a:r>
              <a:rPr lang="fr-FR" sz="2800" b="1" dirty="0"/>
              <a:t>Python</a:t>
            </a:r>
            <a:r>
              <a:rPr lang="fr-FR" sz="2800" dirty="0"/>
              <a:t>, </a:t>
            </a:r>
            <a:r>
              <a:rPr lang="fr-FR" sz="2800" b="1" dirty="0"/>
              <a:t>PHP</a:t>
            </a:r>
            <a:r>
              <a:rPr lang="fr-FR" sz="2800" dirty="0"/>
              <a:t>, etc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 smtClean="0"/>
              <a:t>Utilisable </a:t>
            </a:r>
            <a:r>
              <a:rPr lang="fr-FR" sz="2800" dirty="0"/>
              <a:t>avec n'importe quel type de client (</a:t>
            </a:r>
            <a:r>
              <a:rPr lang="fr-FR" sz="2800" b="1" dirty="0"/>
              <a:t>navigateur</a:t>
            </a:r>
            <a:r>
              <a:rPr lang="fr-FR" sz="2800" dirty="0"/>
              <a:t>, </a:t>
            </a:r>
            <a:r>
              <a:rPr lang="fr-FR" sz="2800" b="1" dirty="0"/>
              <a:t>mobile</a:t>
            </a:r>
            <a:r>
              <a:rPr lang="fr-FR" sz="2800" dirty="0"/>
              <a:t>, </a:t>
            </a:r>
            <a:r>
              <a:rPr lang="fr-FR" sz="2800" b="1" dirty="0"/>
              <a:t>logiciel</a:t>
            </a:r>
            <a:r>
              <a:rPr lang="fr-FR" sz="2800" dirty="0"/>
              <a:t> </a:t>
            </a:r>
            <a:r>
              <a:rPr lang="fr-FR" sz="2800" b="1" dirty="0"/>
              <a:t>tiers</a:t>
            </a:r>
            <a:r>
              <a:rPr lang="fr-FR" sz="2800" dirty="0"/>
              <a:t>...).</a:t>
            </a:r>
          </a:p>
        </p:txBody>
      </p:sp>
    </p:spTree>
    <p:extLst>
      <p:ext uri="{BB962C8B-B14F-4D97-AF65-F5344CB8AC3E}">
        <p14:creationId xmlns:p14="http://schemas.microsoft.com/office/powerpoint/2010/main" val="155679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 d'usage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Une </a:t>
            </a:r>
            <a:r>
              <a:rPr lang="fr-FR" sz="2800" b="1" dirty="0"/>
              <a:t>API</a:t>
            </a:r>
            <a:r>
              <a:rPr lang="fr-FR" sz="2800" dirty="0"/>
              <a:t> </a:t>
            </a:r>
            <a:r>
              <a:rPr lang="fr-FR" sz="2800" b="1" dirty="0" err="1"/>
              <a:t>RESTful</a:t>
            </a:r>
            <a:r>
              <a:rPr lang="fr-FR" sz="2800" dirty="0"/>
              <a:t> permet à une application mobile de récupérer les données d’un serveur sans dépendre d’une technologie spécifique. Par exemple, une application e-commerce peut afficher les produits depuis un </a:t>
            </a:r>
            <a:r>
              <a:rPr lang="fr-FR" sz="2800" b="1" dirty="0" err="1"/>
              <a:t>backend</a:t>
            </a:r>
            <a:r>
              <a:rPr lang="fr-FR" sz="2800" dirty="0"/>
              <a:t> </a:t>
            </a:r>
            <a:r>
              <a:rPr lang="fr-FR" sz="2800" b="1" dirty="0" err="1"/>
              <a:t>Spring</a:t>
            </a:r>
            <a:r>
              <a:rPr lang="fr-FR" sz="2800" dirty="0"/>
              <a:t> </a:t>
            </a:r>
            <a:r>
              <a:rPr lang="fr-FR" sz="2800" b="1" dirty="0"/>
              <a:t>Boot</a:t>
            </a:r>
            <a:r>
              <a:rPr lang="fr-FR" sz="2800" dirty="0"/>
              <a:t>, et la même </a:t>
            </a:r>
            <a:r>
              <a:rPr lang="fr-FR" sz="2800" b="1" dirty="0"/>
              <a:t>API</a:t>
            </a:r>
            <a:r>
              <a:rPr lang="fr-FR" sz="2800" dirty="0"/>
              <a:t> peut être utilisée par une application web ou un </a:t>
            </a:r>
            <a:r>
              <a:rPr lang="fr-FR" sz="2800" b="1" dirty="0" err="1"/>
              <a:t>chatbot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605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59233"/>
          </a:xfrm>
        </p:spPr>
        <p:txBody>
          <a:bodyPr/>
          <a:lstStyle/>
          <a:p>
            <a:pPr algn="ctr"/>
            <a:r>
              <a:rPr lang="fr-FR" dirty="0" smtClean="0"/>
              <a:t>Architecture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173" y="1756881"/>
            <a:ext cx="9452224" cy="37397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739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 1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7" y="2198670"/>
            <a:ext cx="9697469" cy="381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3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 2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9" y="2093976"/>
            <a:ext cx="9810484" cy="403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1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Exemple 3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593" y="2093976"/>
            <a:ext cx="10037852" cy="373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0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Cas pratique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4000" dirty="0" smtClean="0"/>
              <a:t>Développement d’un </a:t>
            </a:r>
            <a:r>
              <a:rPr lang="fr-FR" sz="4000" b="1" dirty="0" smtClean="0"/>
              <a:t>API</a:t>
            </a:r>
            <a:r>
              <a:rPr lang="fr-FR" sz="4000" dirty="0" smtClean="0"/>
              <a:t> </a:t>
            </a:r>
            <a:r>
              <a:rPr lang="fr-FR" sz="4000" b="1" dirty="0" smtClean="0"/>
              <a:t>REST</a:t>
            </a:r>
          </a:p>
          <a:p>
            <a:pPr algn="just">
              <a:lnSpc>
                <a:spcPct val="200000"/>
              </a:lnSpc>
            </a:pPr>
            <a:r>
              <a:rPr lang="fr-FR" sz="4000" dirty="0" smtClean="0"/>
              <a:t>Tests sur le navigateur et </a:t>
            </a:r>
            <a:r>
              <a:rPr lang="fr-FR" sz="4000" b="1" dirty="0" err="1" smtClean="0"/>
              <a:t>Postman</a:t>
            </a:r>
            <a:r>
              <a:rPr lang="fr-FR" sz="4000" b="1" dirty="0" smtClean="0"/>
              <a:t> ou avec CURL</a:t>
            </a:r>
            <a:endParaRPr lang="fr-FR" sz="4000" b="1" dirty="0"/>
          </a:p>
        </p:txBody>
      </p:sp>
    </p:spTree>
    <p:extLst>
      <p:ext uri="{BB962C8B-B14F-4D97-AF65-F5344CB8AC3E}">
        <p14:creationId xmlns:p14="http://schemas.microsoft.com/office/powerpoint/2010/main" val="146669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4000" dirty="0"/>
              <a:t>TP : Module “Gestion des Employés” – CNSS Application</a:t>
            </a:r>
            <a:br>
              <a:rPr lang="fr-FR" sz="4000" dirty="0"/>
            </a:b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smtClean="0"/>
              <a:t>Objectif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Mettre en place un module simple de </a:t>
            </a:r>
            <a:r>
              <a:rPr lang="fr-FR" sz="2400" b="1" dirty="0"/>
              <a:t>gestion des employés</a:t>
            </a:r>
            <a:r>
              <a:rPr lang="fr-FR" sz="2400" dirty="0"/>
              <a:t> avec </a:t>
            </a:r>
            <a:r>
              <a:rPr lang="fr-FR" sz="2400" dirty="0" smtClean="0"/>
              <a:t>:</a:t>
            </a:r>
          </a:p>
          <a:p>
            <a:pPr lvl="2" algn="just">
              <a:lnSpc>
                <a:spcPct val="200000"/>
              </a:lnSpc>
            </a:pPr>
            <a:r>
              <a:rPr lang="fr-FR" sz="2000" dirty="0"/>
              <a:t>Architecture </a:t>
            </a:r>
            <a:r>
              <a:rPr lang="fr-FR" sz="2000" b="1" dirty="0"/>
              <a:t>Full-</a:t>
            </a:r>
            <a:r>
              <a:rPr lang="fr-FR" sz="2000" b="1" dirty="0" err="1"/>
              <a:t>Stack</a:t>
            </a:r>
            <a:r>
              <a:rPr lang="fr-FR" sz="2000" dirty="0"/>
              <a:t> conforme au modèle </a:t>
            </a:r>
            <a:r>
              <a:rPr lang="fr-FR" sz="2000" dirty="0" smtClean="0"/>
              <a:t>CNSS</a:t>
            </a:r>
          </a:p>
          <a:p>
            <a:pPr lvl="2" algn="just">
              <a:lnSpc>
                <a:spcPct val="200000"/>
              </a:lnSpc>
            </a:pPr>
            <a:r>
              <a:rPr lang="fr-FR" sz="2000" dirty="0"/>
              <a:t>Accès aux données via </a:t>
            </a:r>
            <a:r>
              <a:rPr lang="fr-FR" sz="2000" b="1" dirty="0" err="1"/>
              <a:t>Spring</a:t>
            </a:r>
            <a:r>
              <a:rPr lang="fr-FR" sz="2000" b="1" dirty="0"/>
              <a:t> Data </a:t>
            </a:r>
            <a:r>
              <a:rPr lang="fr-FR" sz="2000" b="1" dirty="0" smtClean="0"/>
              <a:t>JPA</a:t>
            </a:r>
          </a:p>
          <a:p>
            <a:pPr lvl="2" algn="just">
              <a:lnSpc>
                <a:spcPct val="200000"/>
              </a:lnSpc>
            </a:pPr>
            <a:r>
              <a:rPr lang="en-US" sz="2000" dirty="0"/>
              <a:t>API REST CRUD (Create, Read, Update, Delete)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08833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0717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Structure du projet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5784" y="1489752"/>
            <a:ext cx="8794679" cy="46336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127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Configuration de la base de données (</a:t>
            </a:r>
            <a:r>
              <a:rPr lang="fr-FR" dirty="0" err="1"/>
              <a:t>application.yml</a:t>
            </a:r>
            <a:r>
              <a:rPr lang="fr-FR" dirty="0"/>
              <a:t>)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0301" y="2229492"/>
            <a:ext cx="9400854" cy="41302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559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2771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Entité JPA – Employee.java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9480" y="2116476"/>
            <a:ext cx="9123450" cy="35240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861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Test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3600" dirty="0" smtClean="0"/>
              <a:t>Exécuter l’application.</a:t>
            </a:r>
          </a:p>
          <a:p>
            <a:pPr>
              <a:lnSpc>
                <a:spcPct val="200000"/>
              </a:lnSpc>
            </a:pPr>
            <a:r>
              <a:rPr lang="fr-FR" sz="3600" dirty="0" smtClean="0"/>
              <a:t>Vérifier le console.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2381546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nb-NO" sz="5400" dirty="0"/>
              <a:t>Utiliser Swagger / OpenAPI dans Spring Boot</a:t>
            </a:r>
            <a:endParaRPr lang="fr-FR" sz="54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081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Installer et configurer </a:t>
            </a:r>
            <a:r>
              <a:rPr lang="fr-FR" sz="2400" dirty="0" err="1"/>
              <a:t>Swagger</a:t>
            </a:r>
            <a:r>
              <a:rPr lang="fr-FR" sz="2400" dirty="0"/>
              <a:t> / </a:t>
            </a:r>
            <a:r>
              <a:rPr lang="fr-FR" sz="2400" dirty="0" err="1"/>
              <a:t>OpenAPI</a:t>
            </a:r>
            <a:r>
              <a:rPr lang="fr-FR" sz="2400" dirty="0"/>
              <a:t> dans un projet </a:t>
            </a:r>
            <a:r>
              <a:rPr lang="fr-FR" sz="2400" dirty="0" err="1"/>
              <a:t>Spring</a:t>
            </a:r>
            <a:r>
              <a:rPr lang="fr-FR" sz="2400" dirty="0"/>
              <a:t> Boot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Générer automatiquement la documentation des API REST exposées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T</a:t>
            </a:r>
            <a:r>
              <a:rPr lang="fr-FR" sz="2400" dirty="0" smtClean="0"/>
              <a:t>ester </a:t>
            </a:r>
            <a:r>
              <a:rPr lang="fr-FR" sz="2400" dirty="0"/>
              <a:t>les </a:t>
            </a:r>
            <a:r>
              <a:rPr lang="fr-FR" sz="2400" dirty="0" err="1"/>
              <a:t>endpoints</a:t>
            </a:r>
            <a:r>
              <a:rPr lang="fr-FR" sz="2400" dirty="0"/>
              <a:t> directement depuis l’interface </a:t>
            </a:r>
            <a:r>
              <a:rPr lang="fr-FR" sz="2400" dirty="0" err="1"/>
              <a:t>Swagger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Comprendre comment cette documentation sert de </a:t>
            </a:r>
            <a:r>
              <a:rPr lang="fr-FR" sz="2400" b="1" dirty="0"/>
              <a:t>contrat clair</a:t>
            </a:r>
            <a:r>
              <a:rPr lang="fr-FR" sz="2400" dirty="0"/>
              <a:t> entre le front (</a:t>
            </a:r>
            <a:r>
              <a:rPr lang="fr-FR" sz="2400" dirty="0" err="1"/>
              <a:t>Angular</a:t>
            </a:r>
            <a:r>
              <a:rPr lang="fr-FR" sz="2400" dirty="0"/>
              <a:t>) et le back (</a:t>
            </a:r>
            <a:r>
              <a:rPr lang="fr-FR" sz="2400" dirty="0" err="1"/>
              <a:t>Spring</a:t>
            </a:r>
            <a:r>
              <a:rPr lang="fr-FR" sz="2400" dirty="0"/>
              <a:t> Boot).</a:t>
            </a:r>
            <a:endParaRPr lang="fr-FR" sz="2400" dirty="0" smtClean="0"/>
          </a:p>
          <a:p>
            <a:pPr algn="just"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3096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89423"/>
            <a:ext cx="10058400" cy="789364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qu’est-ce que </a:t>
            </a:r>
            <a:r>
              <a:rPr lang="fr-FR" sz="3600" dirty="0" err="1"/>
              <a:t>Swagger</a:t>
            </a:r>
            <a:r>
              <a:rPr lang="fr-FR" sz="3600" dirty="0"/>
              <a:t> / </a:t>
            </a:r>
            <a:r>
              <a:rPr lang="fr-FR" sz="3600" dirty="0" err="1"/>
              <a:t>OpenAPI</a:t>
            </a:r>
            <a:r>
              <a:rPr lang="fr-FR" sz="3600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13043"/>
            <a:ext cx="10058400" cy="45591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 err="1"/>
              <a:t>Swagger</a:t>
            </a:r>
            <a:r>
              <a:rPr lang="fr-FR" sz="2800" b="1" dirty="0"/>
              <a:t> (ou </a:t>
            </a:r>
            <a:r>
              <a:rPr lang="fr-FR" sz="2800" b="1" dirty="0" err="1"/>
              <a:t>OpenAPI</a:t>
            </a:r>
            <a:r>
              <a:rPr lang="fr-FR" sz="2800" b="1" dirty="0"/>
              <a:t>)</a:t>
            </a:r>
            <a:r>
              <a:rPr lang="fr-FR" sz="2800" dirty="0"/>
              <a:t> est un outil qui permet de </a:t>
            </a:r>
            <a:r>
              <a:rPr lang="fr-FR" sz="2800" b="1" dirty="0"/>
              <a:t>décrire, visualiser et tester les API REST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 err="1"/>
              <a:t>Swagger</a:t>
            </a:r>
            <a:r>
              <a:rPr lang="fr-FR" sz="2400" dirty="0"/>
              <a:t> lit automatiquement les annotations </a:t>
            </a:r>
            <a:r>
              <a:rPr lang="fr-FR" sz="2400" dirty="0" err="1"/>
              <a:t>Spring</a:t>
            </a:r>
            <a:r>
              <a:rPr lang="fr-FR" sz="2400" dirty="0"/>
              <a:t> (@</a:t>
            </a:r>
            <a:r>
              <a:rPr lang="fr-FR" sz="2400" dirty="0" err="1"/>
              <a:t>RestController</a:t>
            </a:r>
            <a:r>
              <a:rPr lang="fr-FR" sz="2400" dirty="0"/>
              <a:t>, @</a:t>
            </a:r>
            <a:r>
              <a:rPr lang="fr-FR" sz="2400" dirty="0" err="1"/>
              <a:t>GetMapping</a:t>
            </a:r>
            <a:r>
              <a:rPr lang="fr-FR" sz="2400" dirty="0"/>
              <a:t>, etc</a:t>
            </a:r>
            <a:r>
              <a:rPr lang="fr-FR" sz="2400" dirty="0" smtClean="0"/>
              <a:t>.)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Il génère une interface web pour interagir avec les </a:t>
            </a:r>
            <a:r>
              <a:rPr lang="fr-FR" sz="2400" dirty="0" err="1"/>
              <a:t>endpoints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Il sert de </a:t>
            </a:r>
            <a:r>
              <a:rPr lang="fr-FR" sz="2400" b="1" dirty="0"/>
              <a:t>contrat technique partagé</a:t>
            </a:r>
            <a:r>
              <a:rPr lang="fr-FR" sz="2400" dirty="0"/>
              <a:t> entre développeurs </a:t>
            </a:r>
            <a:r>
              <a:rPr lang="fr-FR" sz="2400" dirty="0" err="1"/>
              <a:t>backend</a:t>
            </a:r>
            <a:r>
              <a:rPr lang="fr-FR" sz="2400" dirty="0"/>
              <a:t>, </a:t>
            </a:r>
            <a:r>
              <a:rPr lang="fr-FR" sz="2400" dirty="0" err="1"/>
              <a:t>frontend</a:t>
            </a:r>
            <a:r>
              <a:rPr lang="fr-FR" sz="2400" dirty="0"/>
              <a:t> et QA.</a:t>
            </a:r>
          </a:p>
        </p:txBody>
      </p:sp>
    </p:spTree>
    <p:extLst>
      <p:ext uri="{BB962C8B-B14F-4D97-AF65-F5344CB8AC3E}">
        <p14:creationId xmlns:p14="http://schemas.microsoft.com/office/powerpoint/2010/main" val="604199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Intégration dans un projet </a:t>
            </a:r>
            <a:r>
              <a:rPr lang="fr-FR" sz="3600" dirty="0" err="1"/>
              <a:t>Spring</a:t>
            </a:r>
            <a:r>
              <a:rPr lang="fr-FR" sz="3600" dirty="0"/>
              <a:t> Boot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Ajouter la </a:t>
            </a:r>
            <a:r>
              <a:rPr lang="fr-FR" dirty="0" smtClean="0"/>
              <a:t>dépendance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b="1" dirty="0" err="1" smtClean="0"/>
              <a:t>springdoc-openapi</a:t>
            </a:r>
            <a:r>
              <a:rPr lang="fr-FR" dirty="0" smtClean="0"/>
              <a:t> </a:t>
            </a:r>
            <a:r>
              <a:rPr lang="fr-FR" dirty="0"/>
              <a:t>est la version moderne et maintenue de </a:t>
            </a:r>
            <a:r>
              <a:rPr lang="fr-FR" dirty="0" err="1"/>
              <a:t>Swagger</a:t>
            </a:r>
            <a:r>
              <a:rPr lang="fr-FR" dirty="0"/>
              <a:t> pour </a:t>
            </a:r>
            <a:r>
              <a:rPr lang="fr-FR" dirty="0" err="1"/>
              <a:t>Spring</a:t>
            </a:r>
            <a:r>
              <a:rPr lang="fr-FR" dirty="0"/>
              <a:t> Boot (compatible avec </a:t>
            </a:r>
            <a:r>
              <a:rPr lang="fr-FR" dirty="0" err="1"/>
              <a:t>Spring</a:t>
            </a:r>
            <a:r>
              <a:rPr lang="fr-FR" dirty="0"/>
              <a:t> Boot 3.x et 4.x).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0048" y="1912814"/>
            <a:ext cx="6041511" cy="23201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366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Lancer l’application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Une fois l’application démarrée, ouvre ton navigateur à l’adresse : </a:t>
            </a:r>
            <a:r>
              <a:rPr lang="fr-FR" sz="2400" b="1" dirty="0">
                <a:hlinkClick r:id="rId2"/>
              </a:rPr>
              <a:t>http://</a:t>
            </a:r>
            <a:r>
              <a:rPr lang="fr-FR" sz="2400" b="1" dirty="0" smtClean="0">
                <a:hlinkClick r:id="rId2"/>
              </a:rPr>
              <a:t>localhost:8080/swagger-ui/index.html</a:t>
            </a:r>
            <a:endParaRPr lang="fr-FR" sz="2400" b="1" dirty="0" smtClean="0"/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Vous aurez automatiquement 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la liste des </a:t>
            </a:r>
            <a:r>
              <a:rPr lang="fr-FR" sz="2000" b="1" dirty="0" err="1"/>
              <a:t>endpoints</a:t>
            </a:r>
            <a:r>
              <a:rPr lang="fr-FR" sz="2000" b="1" dirty="0"/>
              <a:t> </a:t>
            </a:r>
            <a:r>
              <a:rPr lang="fr-FR" sz="2000" b="1" dirty="0" smtClean="0"/>
              <a:t>disponibles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/>
              <a:t>méthodes HTTP</a:t>
            </a:r>
            <a:r>
              <a:rPr lang="fr-FR" sz="2000" dirty="0"/>
              <a:t> (GET, POST, PUT, DELETE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/>
              <a:t>modèles de données</a:t>
            </a:r>
            <a:r>
              <a:rPr lang="fr-FR" sz="2000" dirty="0"/>
              <a:t> (</a:t>
            </a:r>
            <a:r>
              <a:rPr lang="fr-FR" sz="2000" dirty="0" err="1"/>
              <a:t>DTOs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codes de </a:t>
            </a:r>
            <a:r>
              <a:rPr lang="fr-FR" sz="2000" dirty="0" smtClean="0"/>
              <a:t>réponse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et la possibilité de </a:t>
            </a:r>
            <a:r>
              <a:rPr lang="fr-FR" sz="2000" b="1" dirty="0"/>
              <a:t>tester directement l’API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092124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 concret </a:t>
            </a:r>
            <a:r>
              <a:rPr lang="fr-FR" dirty="0" smtClean="0"/>
              <a:t>CNSS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Classe modèle : Affilie.java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8" y="2188396"/>
            <a:ext cx="9779662" cy="4037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37789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Contrôleur : AffilieController.java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1397" y="2003461"/>
            <a:ext cx="9123451" cy="43562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3390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Résultat visuel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Section : </a:t>
            </a:r>
            <a:r>
              <a:rPr lang="fr-FR" dirty="0" smtClean="0"/>
              <a:t>Affiliés</a:t>
            </a:r>
          </a:p>
          <a:p>
            <a:pPr lvl="1" algn="just">
              <a:lnSpc>
                <a:spcPct val="150000"/>
              </a:lnSpc>
            </a:pPr>
            <a:r>
              <a:rPr lang="fr-FR" dirty="0" err="1"/>
              <a:t>Endpoint</a:t>
            </a:r>
            <a:r>
              <a:rPr lang="fr-FR" dirty="0"/>
              <a:t> : GET /api/affilies/{id</a:t>
            </a:r>
            <a:r>
              <a:rPr lang="fr-FR" dirty="0" smtClean="0"/>
              <a:t>}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Description : Récupérer un affilié par son </a:t>
            </a:r>
            <a:r>
              <a:rPr lang="fr-FR" dirty="0" smtClean="0"/>
              <a:t>identifiant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Exemple de réponse JSON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2548" y="3832261"/>
            <a:ext cx="5363109" cy="2609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2658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Bonnes </a:t>
            </a:r>
            <a:r>
              <a:rPr lang="fr-FR" dirty="0"/>
              <a:t>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Utiliser les annotations </a:t>
            </a:r>
            <a:r>
              <a:rPr lang="fr-FR" sz="2400" dirty="0" err="1"/>
              <a:t>Swagger</a:t>
            </a:r>
            <a:r>
              <a:rPr lang="fr-FR" sz="2400" dirty="0"/>
              <a:t> pour enrichir la </a:t>
            </a:r>
            <a:r>
              <a:rPr lang="fr-FR" sz="2400" dirty="0" smtClean="0"/>
              <a:t>documentation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Toujours documenter les codes de retour (200, 404, 500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Personnaliser la page </a:t>
            </a:r>
            <a:r>
              <a:rPr lang="fr-FR" sz="2400" dirty="0" err="1"/>
              <a:t>Swagger</a:t>
            </a:r>
            <a:r>
              <a:rPr lang="fr-FR" sz="2400" dirty="0"/>
              <a:t> (nom, description, contact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Utiliser </a:t>
            </a:r>
            <a:r>
              <a:rPr lang="fr-FR" sz="2400" dirty="0" err="1"/>
              <a:t>Swagger</a:t>
            </a:r>
            <a:r>
              <a:rPr lang="fr-FR" sz="2400" dirty="0"/>
              <a:t> comme contrat</a:t>
            </a:r>
          </a:p>
        </p:txBody>
      </p:sp>
    </p:spTree>
    <p:extLst>
      <p:ext uri="{BB962C8B-B14F-4D97-AF65-F5344CB8AC3E}">
        <p14:creationId xmlns:p14="http://schemas.microsoft.com/office/powerpoint/2010/main" val="28002321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Utiliser les annotations </a:t>
            </a:r>
            <a:r>
              <a:rPr lang="fr-FR" dirty="0" err="1"/>
              <a:t>Swagger</a:t>
            </a:r>
            <a:r>
              <a:rPr lang="fr-FR" dirty="0"/>
              <a:t> pour enrichir la documentation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/>
              <a:t>@</a:t>
            </a:r>
            <a:r>
              <a:rPr lang="fr-FR" sz="2800" b="1" dirty="0" err="1"/>
              <a:t>Schema</a:t>
            </a:r>
            <a:r>
              <a:rPr lang="fr-FR" sz="2800" b="1" dirty="0"/>
              <a:t> </a:t>
            </a:r>
            <a:r>
              <a:rPr lang="fr-FR" sz="2800" dirty="0"/>
              <a:t>→ décrire les modèles (</a:t>
            </a:r>
            <a:r>
              <a:rPr lang="fr-FR" sz="2800" dirty="0" err="1"/>
              <a:t>DTOs</a:t>
            </a:r>
            <a:r>
              <a:rPr lang="fr-FR" sz="28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800" b="1" dirty="0"/>
              <a:t>@</a:t>
            </a:r>
            <a:r>
              <a:rPr lang="fr-FR" sz="2800" b="1" dirty="0" err="1"/>
              <a:t>Operation</a:t>
            </a:r>
            <a:r>
              <a:rPr lang="fr-FR" sz="2800" b="1" dirty="0"/>
              <a:t> </a:t>
            </a:r>
            <a:r>
              <a:rPr lang="fr-FR" sz="2800" dirty="0"/>
              <a:t>→ décrire les </a:t>
            </a:r>
            <a:r>
              <a:rPr lang="fr-FR" sz="2800" dirty="0" smtClean="0"/>
              <a:t>méthodes</a:t>
            </a:r>
          </a:p>
          <a:p>
            <a:pPr algn="just">
              <a:lnSpc>
                <a:spcPct val="200000"/>
              </a:lnSpc>
            </a:pPr>
            <a:r>
              <a:rPr lang="fr-FR" sz="2800" b="1" dirty="0"/>
              <a:t>@Tag </a:t>
            </a:r>
            <a:r>
              <a:rPr lang="fr-FR" sz="2800" dirty="0"/>
              <a:t>→ regrouper les </a:t>
            </a:r>
            <a:r>
              <a:rPr lang="fr-FR" sz="2800" dirty="0" err="1"/>
              <a:t>endpoints</a:t>
            </a:r>
            <a:r>
              <a:rPr lang="fr-FR" sz="2800" dirty="0"/>
              <a:t> par thème</a:t>
            </a:r>
          </a:p>
        </p:txBody>
      </p:sp>
    </p:spTree>
    <p:extLst>
      <p:ext uri="{BB962C8B-B14F-4D97-AF65-F5344CB8AC3E}">
        <p14:creationId xmlns:p14="http://schemas.microsoft.com/office/powerpoint/2010/main" val="3882031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Toujours documenter les codes de retour (200, 404, 500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6239" y="2373331"/>
            <a:ext cx="7705618" cy="29589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2607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Personnaliser la page </a:t>
            </a:r>
            <a:r>
              <a:rPr lang="fr-FR" dirty="0" err="1"/>
              <a:t>Swagger</a:t>
            </a:r>
            <a:r>
              <a:rPr lang="fr-FR" dirty="0"/>
              <a:t> (nom, description, contact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3178" y="2383605"/>
            <a:ext cx="5311739" cy="34726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42289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Utiliser </a:t>
            </a:r>
            <a:r>
              <a:rPr lang="fr-FR" sz="4000" dirty="0" err="1"/>
              <a:t>Swagger</a:t>
            </a:r>
            <a:r>
              <a:rPr lang="fr-FR" sz="4000" dirty="0"/>
              <a:t> comme contrat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Angular</a:t>
            </a:r>
            <a:r>
              <a:rPr lang="fr-FR" sz="2800" dirty="0"/>
              <a:t> peut consommer directement le fichier JSON </a:t>
            </a:r>
            <a:r>
              <a:rPr lang="fr-FR" sz="2800" dirty="0" err="1"/>
              <a:t>OpenAPI</a:t>
            </a:r>
            <a:r>
              <a:rPr lang="fr-FR" sz="2800" dirty="0"/>
              <a:t> (/v3/api-docs) pour générer des clients automatiques avec des outils comme </a:t>
            </a:r>
            <a:r>
              <a:rPr lang="fr-FR" sz="2800" dirty="0" err="1"/>
              <a:t>OpenAPI</a:t>
            </a:r>
            <a:r>
              <a:rPr lang="fr-FR" sz="2800" dirty="0"/>
              <a:t> </a:t>
            </a:r>
            <a:r>
              <a:rPr lang="fr-FR" sz="2800" dirty="0" err="1"/>
              <a:t>Generator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20973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Swagger</a:t>
            </a:r>
            <a:r>
              <a:rPr lang="fr-FR" sz="2800" dirty="0"/>
              <a:t> / </a:t>
            </a:r>
            <a:r>
              <a:rPr lang="fr-FR" sz="2800" dirty="0" err="1"/>
              <a:t>OpenAPI</a:t>
            </a:r>
            <a:r>
              <a:rPr lang="fr-FR" sz="2800" dirty="0"/>
              <a:t> </a:t>
            </a:r>
            <a:r>
              <a:rPr lang="fr-FR" sz="2800" dirty="0" smtClean="0"/>
              <a:t>=</a:t>
            </a:r>
            <a:r>
              <a:rPr lang="fr-FR" sz="2800" b="1" dirty="0"/>
              <a:t>Documentation vivante + contrat de communication + outil de </a:t>
            </a:r>
            <a:r>
              <a:rPr lang="fr-FR" sz="2800" b="1" dirty="0" smtClean="0"/>
              <a:t>test </a:t>
            </a:r>
            <a:r>
              <a:rPr lang="fr-FR" sz="2800" dirty="0" smtClean="0"/>
              <a:t>Indispensable </a:t>
            </a:r>
            <a:r>
              <a:rPr lang="fr-FR" sz="2800" dirty="0"/>
              <a:t>dans une architecture </a:t>
            </a:r>
            <a:r>
              <a:rPr lang="fr-FR" sz="2800" b="1" dirty="0" err="1"/>
              <a:t>Spring</a:t>
            </a:r>
            <a:r>
              <a:rPr lang="fr-FR" sz="2800" b="1" dirty="0"/>
              <a:t> Boot + </a:t>
            </a:r>
            <a:r>
              <a:rPr lang="fr-FR" sz="2800" b="1" dirty="0" err="1"/>
              <a:t>Angular</a:t>
            </a:r>
            <a:r>
              <a:rPr lang="fr-FR" sz="2800" dirty="0"/>
              <a:t> comme celle de la </a:t>
            </a:r>
            <a:r>
              <a:rPr lang="fr-FR" sz="2800" b="1" dirty="0"/>
              <a:t>CNSS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18870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84572"/>
          </a:xfrm>
        </p:spPr>
        <p:txBody>
          <a:bodyPr>
            <a:normAutofit/>
          </a:bodyPr>
          <a:lstStyle/>
          <a:p>
            <a:pPr algn="ctr"/>
            <a:r>
              <a:rPr lang="fr-FR" sz="3600" dirty="0" err="1"/>
              <a:t>Repository</a:t>
            </a:r>
            <a:r>
              <a:rPr lang="fr-FR" sz="3600" dirty="0"/>
              <a:t> – EmployeeRepository.java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1124" y="2352782"/>
            <a:ext cx="9195369" cy="2222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903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30520"/>
            <a:ext cx="10058400" cy="707170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Service – EmployeeService.java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173" y="1037690"/>
            <a:ext cx="9688529" cy="56199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9564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154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Contrôleur REST – EmployeeController.java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836" y="1407560"/>
            <a:ext cx="9976207" cy="47646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46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nb-NO" sz="5400" dirty="0"/>
              <a:t>Utiliser Swagger / OpenAPI dans Spring Boot</a:t>
            </a:r>
            <a:endParaRPr lang="fr-FR" sz="54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20031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Installer et configurer </a:t>
            </a:r>
            <a:r>
              <a:rPr lang="fr-FR" sz="2400" dirty="0" err="1"/>
              <a:t>Swagger</a:t>
            </a:r>
            <a:r>
              <a:rPr lang="fr-FR" sz="2400" dirty="0"/>
              <a:t> / </a:t>
            </a:r>
            <a:r>
              <a:rPr lang="fr-FR" sz="2400" dirty="0" err="1"/>
              <a:t>OpenAPI</a:t>
            </a:r>
            <a:r>
              <a:rPr lang="fr-FR" sz="2400" dirty="0"/>
              <a:t> dans un projet </a:t>
            </a:r>
            <a:r>
              <a:rPr lang="fr-FR" sz="2400" dirty="0" err="1"/>
              <a:t>Spring</a:t>
            </a:r>
            <a:r>
              <a:rPr lang="fr-FR" sz="2400" dirty="0"/>
              <a:t> Boot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Générer automatiquement la documentation des API REST exposées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T</a:t>
            </a:r>
            <a:r>
              <a:rPr lang="fr-FR" sz="2400" dirty="0" smtClean="0"/>
              <a:t>ester </a:t>
            </a:r>
            <a:r>
              <a:rPr lang="fr-FR" sz="2400" dirty="0"/>
              <a:t>les </a:t>
            </a:r>
            <a:r>
              <a:rPr lang="fr-FR" sz="2400" dirty="0" err="1"/>
              <a:t>endpoints</a:t>
            </a:r>
            <a:r>
              <a:rPr lang="fr-FR" sz="2400" dirty="0"/>
              <a:t> directement depuis l’interface </a:t>
            </a:r>
            <a:r>
              <a:rPr lang="fr-FR" sz="2400" dirty="0" err="1"/>
              <a:t>Swagger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Comprendre comment cette documentation sert de </a:t>
            </a:r>
            <a:r>
              <a:rPr lang="fr-FR" sz="2400" b="1" dirty="0"/>
              <a:t>contrat clair</a:t>
            </a:r>
            <a:r>
              <a:rPr lang="fr-FR" sz="2400" dirty="0"/>
              <a:t> entre le front (</a:t>
            </a:r>
            <a:r>
              <a:rPr lang="fr-FR" sz="2400" dirty="0" err="1"/>
              <a:t>Angular</a:t>
            </a:r>
            <a:r>
              <a:rPr lang="fr-FR" sz="2400" dirty="0"/>
              <a:t>) et le back (</a:t>
            </a:r>
            <a:r>
              <a:rPr lang="fr-FR" sz="2400" dirty="0" err="1"/>
              <a:t>Spring</a:t>
            </a:r>
            <a:r>
              <a:rPr lang="fr-FR" sz="2400" dirty="0"/>
              <a:t> Boot).</a:t>
            </a:r>
            <a:endParaRPr lang="fr-FR" sz="2400" dirty="0" smtClean="0"/>
          </a:p>
          <a:p>
            <a:pPr algn="just"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497183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89423"/>
            <a:ext cx="10058400" cy="789364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qu’est-ce que </a:t>
            </a:r>
            <a:r>
              <a:rPr lang="fr-FR" sz="3600" dirty="0" err="1"/>
              <a:t>Swagger</a:t>
            </a:r>
            <a:r>
              <a:rPr lang="fr-FR" sz="3600" dirty="0"/>
              <a:t> / </a:t>
            </a:r>
            <a:r>
              <a:rPr lang="fr-FR" sz="3600" dirty="0" err="1"/>
              <a:t>OpenAPI</a:t>
            </a:r>
            <a:r>
              <a:rPr lang="fr-FR" sz="3600" dirty="0"/>
              <a:t>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13043"/>
            <a:ext cx="10058400" cy="45591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 err="1"/>
              <a:t>Swagger</a:t>
            </a:r>
            <a:r>
              <a:rPr lang="fr-FR" sz="2800" b="1" dirty="0"/>
              <a:t> (ou </a:t>
            </a:r>
            <a:r>
              <a:rPr lang="fr-FR" sz="2800" b="1" dirty="0" err="1"/>
              <a:t>OpenAPI</a:t>
            </a:r>
            <a:r>
              <a:rPr lang="fr-FR" sz="2800" b="1" dirty="0"/>
              <a:t>)</a:t>
            </a:r>
            <a:r>
              <a:rPr lang="fr-FR" sz="2800" dirty="0"/>
              <a:t> est un outil qui permet de </a:t>
            </a:r>
            <a:r>
              <a:rPr lang="fr-FR" sz="2800" b="1" dirty="0"/>
              <a:t>décrire, visualiser et tester les API REST</a:t>
            </a:r>
            <a:r>
              <a:rPr lang="fr-FR" sz="28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 err="1"/>
              <a:t>Swagger</a:t>
            </a:r>
            <a:r>
              <a:rPr lang="fr-FR" sz="2400" dirty="0"/>
              <a:t> lit automatiquement les annotations </a:t>
            </a:r>
            <a:r>
              <a:rPr lang="fr-FR" sz="2400" dirty="0" err="1"/>
              <a:t>Spring</a:t>
            </a:r>
            <a:r>
              <a:rPr lang="fr-FR" sz="2400" dirty="0"/>
              <a:t> (@</a:t>
            </a:r>
            <a:r>
              <a:rPr lang="fr-FR" sz="2400" dirty="0" err="1"/>
              <a:t>RestController</a:t>
            </a:r>
            <a:r>
              <a:rPr lang="fr-FR" sz="2400" dirty="0"/>
              <a:t>, @</a:t>
            </a:r>
            <a:r>
              <a:rPr lang="fr-FR" sz="2400" dirty="0" err="1"/>
              <a:t>GetMapping</a:t>
            </a:r>
            <a:r>
              <a:rPr lang="fr-FR" sz="2400" dirty="0"/>
              <a:t>, etc</a:t>
            </a:r>
            <a:r>
              <a:rPr lang="fr-FR" sz="2400" dirty="0" smtClean="0"/>
              <a:t>.)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Il génère une interface web pour interagir avec les </a:t>
            </a:r>
            <a:r>
              <a:rPr lang="fr-FR" sz="2400" dirty="0" err="1"/>
              <a:t>endpoints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Il sert de </a:t>
            </a:r>
            <a:r>
              <a:rPr lang="fr-FR" sz="2400" b="1" dirty="0"/>
              <a:t>contrat technique partagé</a:t>
            </a:r>
            <a:r>
              <a:rPr lang="fr-FR" sz="2400" dirty="0"/>
              <a:t> entre développeurs </a:t>
            </a:r>
            <a:r>
              <a:rPr lang="fr-FR" sz="2400" dirty="0" err="1"/>
              <a:t>backend</a:t>
            </a:r>
            <a:r>
              <a:rPr lang="fr-FR" sz="2400" dirty="0"/>
              <a:t>, </a:t>
            </a:r>
            <a:r>
              <a:rPr lang="fr-FR" sz="2400" dirty="0" err="1"/>
              <a:t>frontend</a:t>
            </a:r>
            <a:r>
              <a:rPr lang="fr-FR" sz="2400" dirty="0"/>
              <a:t> et QA.</a:t>
            </a:r>
          </a:p>
        </p:txBody>
      </p:sp>
    </p:spTree>
    <p:extLst>
      <p:ext uri="{BB962C8B-B14F-4D97-AF65-F5344CB8AC3E}">
        <p14:creationId xmlns:p14="http://schemas.microsoft.com/office/powerpoint/2010/main" val="38034621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Intégration dans un projet </a:t>
            </a:r>
            <a:r>
              <a:rPr lang="fr-FR" sz="3600" dirty="0" err="1"/>
              <a:t>Spring</a:t>
            </a:r>
            <a:r>
              <a:rPr lang="fr-FR" sz="3600" dirty="0"/>
              <a:t> Boot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Ajouter la </a:t>
            </a:r>
            <a:r>
              <a:rPr lang="fr-FR" dirty="0" smtClean="0"/>
              <a:t>dépendance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b="1" dirty="0" err="1" smtClean="0"/>
              <a:t>springdoc-openapi</a:t>
            </a:r>
            <a:r>
              <a:rPr lang="fr-FR" dirty="0" smtClean="0"/>
              <a:t> </a:t>
            </a:r>
            <a:r>
              <a:rPr lang="fr-FR" dirty="0"/>
              <a:t>est la version moderne et maintenue de </a:t>
            </a:r>
            <a:r>
              <a:rPr lang="fr-FR" dirty="0" err="1"/>
              <a:t>Swagger</a:t>
            </a:r>
            <a:r>
              <a:rPr lang="fr-FR" dirty="0"/>
              <a:t> pour </a:t>
            </a:r>
            <a:r>
              <a:rPr lang="fr-FR" dirty="0" err="1"/>
              <a:t>Spring</a:t>
            </a:r>
            <a:r>
              <a:rPr lang="fr-FR" dirty="0"/>
              <a:t> Boot (compatible avec </a:t>
            </a:r>
            <a:r>
              <a:rPr lang="fr-FR" dirty="0" err="1"/>
              <a:t>Spring</a:t>
            </a:r>
            <a:r>
              <a:rPr lang="fr-FR" dirty="0"/>
              <a:t> Boot 3.x et 4.x).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0048" y="1912814"/>
            <a:ext cx="6041511" cy="23201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92633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Lancer l’application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Une fois l’application démarrée, ouvre ton navigateur à l’adresse : </a:t>
            </a:r>
            <a:r>
              <a:rPr lang="fr-FR" sz="2400" b="1" dirty="0">
                <a:hlinkClick r:id="rId2"/>
              </a:rPr>
              <a:t>http://</a:t>
            </a:r>
            <a:r>
              <a:rPr lang="fr-FR" sz="2400" b="1" dirty="0" smtClean="0">
                <a:hlinkClick r:id="rId2"/>
              </a:rPr>
              <a:t>localhost:8080/swagger-ui/index.html</a:t>
            </a:r>
            <a:endParaRPr lang="fr-FR" sz="2400" b="1" dirty="0" smtClean="0"/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Vous aurez automatiquement 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la liste des </a:t>
            </a:r>
            <a:r>
              <a:rPr lang="fr-FR" sz="2000" b="1" dirty="0" err="1"/>
              <a:t>endpoints</a:t>
            </a:r>
            <a:r>
              <a:rPr lang="fr-FR" sz="2000" b="1" dirty="0"/>
              <a:t> </a:t>
            </a:r>
            <a:r>
              <a:rPr lang="fr-FR" sz="2000" b="1" dirty="0" smtClean="0"/>
              <a:t>disponibles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/>
              <a:t>méthodes HTTP</a:t>
            </a:r>
            <a:r>
              <a:rPr lang="fr-FR" sz="2000" dirty="0"/>
              <a:t> (GET, POST, PUT, DELETE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</a:t>
            </a:r>
            <a:r>
              <a:rPr lang="fr-FR" sz="2000" b="1" dirty="0"/>
              <a:t>modèles de données</a:t>
            </a:r>
            <a:r>
              <a:rPr lang="fr-FR" sz="2000" dirty="0"/>
              <a:t> (</a:t>
            </a:r>
            <a:r>
              <a:rPr lang="fr-FR" sz="2000" dirty="0" err="1"/>
              <a:t>DTOs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les codes de </a:t>
            </a:r>
            <a:r>
              <a:rPr lang="fr-FR" sz="2000" dirty="0" smtClean="0"/>
              <a:t>réponse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et la possibilité de </a:t>
            </a:r>
            <a:r>
              <a:rPr lang="fr-FR" sz="2000" b="1" dirty="0"/>
              <a:t>tester directement l’API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9695718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 concret </a:t>
            </a:r>
            <a:r>
              <a:rPr lang="fr-FR" dirty="0" smtClean="0"/>
              <a:t>CNSS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Classe modèle : Affilie.java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9848" y="2188396"/>
            <a:ext cx="9779662" cy="4037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27799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Contrôleur : AffilieController.java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1397" y="2003461"/>
            <a:ext cx="9123451" cy="43562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66674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Résultat visuel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Section : </a:t>
            </a:r>
            <a:r>
              <a:rPr lang="fr-FR" dirty="0" smtClean="0"/>
              <a:t>Affiliés</a:t>
            </a:r>
          </a:p>
          <a:p>
            <a:pPr lvl="1" algn="just">
              <a:lnSpc>
                <a:spcPct val="150000"/>
              </a:lnSpc>
            </a:pPr>
            <a:r>
              <a:rPr lang="fr-FR" dirty="0" err="1"/>
              <a:t>Endpoint</a:t>
            </a:r>
            <a:r>
              <a:rPr lang="fr-FR" dirty="0"/>
              <a:t> : GET /api/affilies/{id</a:t>
            </a:r>
            <a:r>
              <a:rPr lang="fr-FR" dirty="0" smtClean="0"/>
              <a:t>}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Description : Récupérer un affilié par son </a:t>
            </a:r>
            <a:r>
              <a:rPr lang="fr-FR" dirty="0" smtClean="0"/>
              <a:t>identifiant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Exemple de réponse JSON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2548" y="3832261"/>
            <a:ext cx="5363109" cy="2609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84844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Bonnes </a:t>
            </a:r>
            <a:r>
              <a:rPr lang="fr-FR" dirty="0"/>
              <a:t>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Utiliser les annotations </a:t>
            </a:r>
            <a:r>
              <a:rPr lang="fr-FR" sz="2400" dirty="0" err="1"/>
              <a:t>Swagger</a:t>
            </a:r>
            <a:r>
              <a:rPr lang="fr-FR" sz="2400" dirty="0"/>
              <a:t> pour enrichir la </a:t>
            </a:r>
            <a:r>
              <a:rPr lang="fr-FR" sz="2400" dirty="0" smtClean="0"/>
              <a:t>documentation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Toujours documenter les codes de retour (200, 404, 500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Personnaliser la page </a:t>
            </a:r>
            <a:r>
              <a:rPr lang="fr-FR" sz="2400" dirty="0" err="1"/>
              <a:t>Swagger</a:t>
            </a:r>
            <a:r>
              <a:rPr lang="fr-FR" sz="2400" dirty="0"/>
              <a:t> (nom, description, contact</a:t>
            </a:r>
            <a:r>
              <a:rPr lang="fr-FR" sz="24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Utiliser </a:t>
            </a:r>
            <a:r>
              <a:rPr lang="fr-FR" sz="2400" dirty="0" err="1"/>
              <a:t>Swagger</a:t>
            </a:r>
            <a:r>
              <a:rPr lang="fr-FR" sz="2400" dirty="0"/>
              <a:t> comme contrat</a:t>
            </a:r>
          </a:p>
        </p:txBody>
      </p:sp>
    </p:spTree>
    <p:extLst>
      <p:ext uri="{BB962C8B-B14F-4D97-AF65-F5344CB8AC3E}">
        <p14:creationId xmlns:p14="http://schemas.microsoft.com/office/powerpoint/2010/main" val="20164925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Utiliser les annotations </a:t>
            </a:r>
            <a:r>
              <a:rPr lang="fr-FR" dirty="0" err="1"/>
              <a:t>Swagger</a:t>
            </a:r>
            <a:r>
              <a:rPr lang="fr-FR" dirty="0"/>
              <a:t> pour enrichir la documentation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/>
              <a:t>@</a:t>
            </a:r>
            <a:r>
              <a:rPr lang="fr-FR" sz="2800" b="1" dirty="0" err="1"/>
              <a:t>Schema</a:t>
            </a:r>
            <a:r>
              <a:rPr lang="fr-FR" sz="2800" b="1" dirty="0"/>
              <a:t> </a:t>
            </a:r>
            <a:r>
              <a:rPr lang="fr-FR" sz="2800" dirty="0"/>
              <a:t>→ décrire les modèles (</a:t>
            </a:r>
            <a:r>
              <a:rPr lang="fr-FR" sz="2800" dirty="0" err="1"/>
              <a:t>DTOs</a:t>
            </a:r>
            <a:r>
              <a:rPr lang="fr-FR" sz="2800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sz="2800" b="1" dirty="0"/>
              <a:t>@</a:t>
            </a:r>
            <a:r>
              <a:rPr lang="fr-FR" sz="2800" b="1" dirty="0" err="1"/>
              <a:t>Operation</a:t>
            </a:r>
            <a:r>
              <a:rPr lang="fr-FR" sz="2800" b="1" dirty="0"/>
              <a:t> </a:t>
            </a:r>
            <a:r>
              <a:rPr lang="fr-FR" sz="2800" dirty="0"/>
              <a:t>→ décrire les </a:t>
            </a:r>
            <a:r>
              <a:rPr lang="fr-FR" sz="2800" dirty="0" smtClean="0"/>
              <a:t>méthodes</a:t>
            </a:r>
          </a:p>
          <a:p>
            <a:pPr algn="just">
              <a:lnSpc>
                <a:spcPct val="200000"/>
              </a:lnSpc>
            </a:pPr>
            <a:r>
              <a:rPr lang="fr-FR" sz="2800" b="1" dirty="0"/>
              <a:t>@Tag </a:t>
            </a:r>
            <a:r>
              <a:rPr lang="fr-FR" sz="2800" dirty="0"/>
              <a:t>→ regrouper les </a:t>
            </a:r>
            <a:r>
              <a:rPr lang="fr-FR" sz="2800" dirty="0" err="1"/>
              <a:t>endpoints</a:t>
            </a:r>
            <a:r>
              <a:rPr lang="fr-FR" sz="2800" dirty="0"/>
              <a:t> par thème</a:t>
            </a:r>
          </a:p>
        </p:txBody>
      </p:sp>
    </p:spTree>
    <p:extLst>
      <p:ext uri="{BB962C8B-B14F-4D97-AF65-F5344CB8AC3E}">
        <p14:creationId xmlns:p14="http://schemas.microsoft.com/office/powerpoint/2010/main" val="1975493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Toujours documenter les codes de retour (200, 404, 500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6239" y="2373331"/>
            <a:ext cx="7705618" cy="29589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84002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Personnaliser la page </a:t>
            </a:r>
            <a:r>
              <a:rPr lang="fr-FR" dirty="0" err="1"/>
              <a:t>Swagger</a:t>
            </a:r>
            <a:r>
              <a:rPr lang="fr-FR" dirty="0"/>
              <a:t> (nom, description, contact</a:t>
            </a:r>
            <a:r>
              <a:rPr lang="fr-FR" dirty="0" smtClean="0"/>
              <a:t>)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3178" y="2383605"/>
            <a:ext cx="5311739" cy="34726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67121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Utiliser </a:t>
            </a:r>
            <a:r>
              <a:rPr lang="fr-FR" sz="4000" dirty="0" err="1"/>
              <a:t>Swagger</a:t>
            </a:r>
            <a:r>
              <a:rPr lang="fr-FR" sz="4000" dirty="0"/>
              <a:t> comme contrat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Angular</a:t>
            </a:r>
            <a:r>
              <a:rPr lang="fr-FR" sz="2800" dirty="0"/>
              <a:t> peut consommer directement le fichier JSON </a:t>
            </a:r>
            <a:r>
              <a:rPr lang="fr-FR" sz="2800" dirty="0" err="1"/>
              <a:t>OpenAPI</a:t>
            </a:r>
            <a:r>
              <a:rPr lang="fr-FR" sz="2800" dirty="0"/>
              <a:t> (/v3/api-docs) pour générer des clients automatiques avec des outils comme </a:t>
            </a:r>
            <a:r>
              <a:rPr lang="fr-FR" sz="2800" dirty="0" err="1"/>
              <a:t>OpenAPI</a:t>
            </a:r>
            <a:r>
              <a:rPr lang="fr-FR" sz="2800" dirty="0"/>
              <a:t> </a:t>
            </a:r>
            <a:r>
              <a:rPr lang="fr-FR" sz="2800" dirty="0" err="1"/>
              <a:t>Generator</a:t>
            </a:r>
            <a:r>
              <a:rPr lang="fr-F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3261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Swagger</a:t>
            </a:r>
            <a:r>
              <a:rPr lang="fr-FR" sz="2800" dirty="0"/>
              <a:t> / </a:t>
            </a:r>
            <a:r>
              <a:rPr lang="fr-FR" sz="2800" dirty="0" err="1"/>
              <a:t>OpenAPI</a:t>
            </a:r>
            <a:r>
              <a:rPr lang="fr-FR" sz="2800" dirty="0"/>
              <a:t> </a:t>
            </a:r>
            <a:r>
              <a:rPr lang="fr-FR" sz="2800" dirty="0" smtClean="0"/>
              <a:t>=</a:t>
            </a:r>
            <a:r>
              <a:rPr lang="fr-FR" sz="2800" b="1" dirty="0"/>
              <a:t>Documentation vivante + contrat de communication + outil de </a:t>
            </a:r>
            <a:r>
              <a:rPr lang="fr-FR" sz="2800" b="1" dirty="0" smtClean="0"/>
              <a:t>test </a:t>
            </a:r>
            <a:r>
              <a:rPr lang="fr-FR" sz="2800" dirty="0" smtClean="0"/>
              <a:t>Indispensable </a:t>
            </a:r>
            <a:r>
              <a:rPr lang="fr-FR" sz="2800" dirty="0"/>
              <a:t>dans une architecture </a:t>
            </a:r>
            <a:r>
              <a:rPr lang="fr-FR" sz="2800" b="1" dirty="0" err="1"/>
              <a:t>Spring</a:t>
            </a:r>
            <a:r>
              <a:rPr lang="fr-FR" sz="2800" b="1" dirty="0"/>
              <a:t> Boot + </a:t>
            </a:r>
            <a:r>
              <a:rPr lang="fr-FR" sz="2800" b="1" dirty="0" err="1"/>
              <a:t>Angular</a:t>
            </a:r>
            <a:r>
              <a:rPr lang="fr-FR" sz="2800" dirty="0"/>
              <a:t> comme celle de la </a:t>
            </a:r>
            <a:r>
              <a:rPr lang="fr-FR" sz="2800" b="1" dirty="0"/>
              <a:t>CNSS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448215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dirty="0" smtClean="0"/>
              <a:t>Comment </a:t>
            </a:r>
            <a:r>
              <a:rPr lang="fr-FR" sz="5400" dirty="0"/>
              <a:t>préparer proprement les </a:t>
            </a:r>
            <a:r>
              <a:rPr lang="fr-FR" sz="5400" dirty="0" smtClean="0"/>
              <a:t>environnements?</a:t>
            </a:r>
            <a:endParaRPr lang="fr-FR" sz="54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1204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Principe général : les </a:t>
            </a:r>
            <a:r>
              <a:rPr lang="fr-FR" sz="4000" i="1" dirty="0" err="1"/>
              <a:t>Spring</a:t>
            </a:r>
            <a:r>
              <a:rPr lang="fr-FR" sz="4000" i="1" dirty="0"/>
              <a:t> Profiles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05461" y="2159293"/>
            <a:ext cx="10058400" cy="4050792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fr-FR" b="1" dirty="0" err="1"/>
              <a:t>Spring</a:t>
            </a:r>
            <a:r>
              <a:rPr lang="fr-FR" b="1" dirty="0"/>
              <a:t> Boot </a:t>
            </a:r>
            <a:r>
              <a:rPr lang="fr-FR" dirty="0"/>
              <a:t>permet d’avoir plusieurs configurations selon l’environnement via les </a:t>
            </a:r>
            <a:r>
              <a:rPr lang="fr-FR" b="1" dirty="0"/>
              <a:t>profils</a:t>
            </a:r>
            <a:r>
              <a:rPr lang="fr-FR" dirty="0"/>
              <a:t>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148" y="3104824"/>
            <a:ext cx="8383713" cy="25151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11369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Le profil actif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Le profil actif est défini par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la propriété </a:t>
            </a:r>
            <a:r>
              <a:rPr lang="fr-FR" sz="2400" b="1" dirty="0" err="1" smtClean="0"/>
              <a:t>spring.profiles.active</a:t>
            </a:r>
            <a:endParaRPr lang="fr-FR" sz="2400" b="1" dirty="0" smtClean="0"/>
          </a:p>
          <a:p>
            <a:pPr lvl="1" algn="just">
              <a:lnSpc>
                <a:spcPct val="200000"/>
              </a:lnSpc>
            </a:pPr>
            <a:r>
              <a:rPr lang="fr-FR" sz="2400" dirty="0"/>
              <a:t>ou la variable d’environnement </a:t>
            </a:r>
            <a:r>
              <a:rPr lang="fr-FR" sz="2400" b="1" dirty="0" smtClean="0"/>
              <a:t>SPRING_PROFILES_ACTIVE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ou le paramètre </a:t>
            </a:r>
            <a:r>
              <a:rPr lang="fr-FR" sz="2400" b="1" dirty="0"/>
              <a:t>--</a:t>
            </a:r>
            <a:r>
              <a:rPr lang="fr-FR" sz="2400" b="1" dirty="0" err="1"/>
              <a:t>spring.profiles.active</a:t>
            </a:r>
            <a:r>
              <a:rPr lang="fr-FR" sz="2400" b="1" dirty="0"/>
              <a:t>=stage</a:t>
            </a:r>
          </a:p>
        </p:txBody>
      </p:sp>
    </p:spTree>
    <p:extLst>
      <p:ext uri="{BB962C8B-B14F-4D97-AF65-F5344CB8AC3E}">
        <p14:creationId xmlns:p14="http://schemas.microsoft.com/office/powerpoint/2010/main" val="27613957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Structure typique des fichiers </a:t>
            </a:r>
            <a:r>
              <a:rPr lang="fr-FR" dirty="0" err="1"/>
              <a:t>application.yml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Voici la structure recommandée </a:t>
            </a:r>
            <a:r>
              <a:rPr lang="fr-FR" sz="2800" dirty="0" smtClean="0"/>
              <a:t>:</a:t>
            </a:r>
          </a:p>
          <a:p>
            <a:endParaRPr lang="fr-FR" sz="28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9137" y="2851895"/>
            <a:ext cx="5239821" cy="3022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81580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974" y="227778"/>
            <a:ext cx="10058400" cy="830460"/>
          </a:xfrm>
        </p:spPr>
        <p:txBody>
          <a:bodyPr/>
          <a:lstStyle/>
          <a:p>
            <a:pPr algn="ctr"/>
            <a:r>
              <a:rPr lang="fr-FR" dirty="0" err="1"/>
              <a:t>application.yml</a:t>
            </a:r>
            <a:r>
              <a:rPr lang="fr-FR" dirty="0"/>
              <a:t> (général)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5366" y="1551398"/>
            <a:ext cx="9041259" cy="45206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94594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1744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Explication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771" y="1736333"/>
            <a:ext cx="10089222" cy="40993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83232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7929" y="176407"/>
            <a:ext cx="10058400" cy="60442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application-</a:t>
            </a:r>
            <a:r>
              <a:rPr lang="fr-FR" dirty="0" err="1"/>
              <a:t>dev.yml</a:t>
            </a:r>
            <a:r>
              <a:rPr lang="fr-FR" dirty="0"/>
              <a:t> (local)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0993" y="1181529"/>
            <a:ext cx="8435083" cy="50035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64570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92105"/>
          </a:xfrm>
        </p:spPr>
        <p:txBody>
          <a:bodyPr/>
          <a:lstStyle/>
          <a:p>
            <a:pPr algn="ctr"/>
            <a:r>
              <a:rPr lang="fr-FR" dirty="0" smtClean="0"/>
              <a:t>Explication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384" y="1910993"/>
            <a:ext cx="10222787" cy="40788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44876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3989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dirty="0"/>
              <a:t>application-</a:t>
            </a:r>
            <a:r>
              <a:rPr lang="fr-FR" sz="3600" dirty="0" err="1"/>
              <a:t>stage.yml</a:t>
            </a:r>
            <a:r>
              <a:rPr lang="fr-FR" sz="3600" dirty="0"/>
              <a:t> (</a:t>
            </a:r>
            <a:r>
              <a:rPr lang="fr-FR" sz="3600" dirty="0" err="1"/>
              <a:t>préproduction</a:t>
            </a:r>
            <a:r>
              <a:rPr lang="fr-FR" sz="3600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91244" y="1577880"/>
            <a:ext cx="3585681" cy="4966758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/>
              <a:t>Ici, les </a:t>
            </a:r>
            <a:r>
              <a:rPr lang="fr-FR" dirty="0" err="1"/>
              <a:t>credentials</a:t>
            </a:r>
            <a:r>
              <a:rPr lang="fr-FR" dirty="0"/>
              <a:t> viennent des </a:t>
            </a:r>
            <a:r>
              <a:rPr lang="fr-FR" b="1" dirty="0"/>
              <a:t>variables d’environnement</a:t>
            </a:r>
            <a:r>
              <a:rPr lang="fr-FR" dirty="0"/>
              <a:t> injectées par le serveur CI/CD ou Docker Compose.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977" y="1577880"/>
            <a:ext cx="7637414" cy="4966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267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4400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Explication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657" y="1674688"/>
            <a:ext cx="9965933" cy="47363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15757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42784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/>
              <a:t>application-</a:t>
            </a:r>
            <a:r>
              <a:rPr lang="fr-FR" sz="4000" dirty="0" err="1"/>
              <a:t>prod.yml</a:t>
            </a:r>
            <a:r>
              <a:rPr lang="fr-FR" sz="4000" dirty="0"/>
              <a:t> (production)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sz="half" idx="1"/>
          </p:nvPr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05590" y="1736333"/>
            <a:ext cx="5082193" cy="41232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73411" y="1736334"/>
            <a:ext cx="4705564" cy="41232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202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0442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Explication </a:t>
            </a:r>
            <a:endParaRPr lang="fr-FR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1803" y="1428108"/>
            <a:ext cx="9554966" cy="47055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51331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/>
              <a:t>Vue d’ensemble des 3 environnements CNSS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126" y="2537718"/>
            <a:ext cx="10224122" cy="29692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45065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Variables d’environnement et secrets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Les secrets ne doivent jamais figurer dans les fichiers </a:t>
            </a:r>
            <a:r>
              <a:rPr lang="fr-FR" b="1" dirty="0"/>
              <a:t>.</a:t>
            </a:r>
            <a:r>
              <a:rPr lang="fr-FR" b="1" dirty="0" err="1"/>
              <a:t>yml</a:t>
            </a:r>
            <a:r>
              <a:rPr lang="fr-FR" b="1" dirty="0"/>
              <a:t> </a:t>
            </a:r>
            <a:r>
              <a:rPr lang="fr-FR" dirty="0" err="1"/>
              <a:t>versionnés.Définis</a:t>
            </a:r>
            <a:r>
              <a:rPr lang="fr-FR" dirty="0"/>
              <a:t>-les comme variables système ou dans ton orchestrateur (</a:t>
            </a:r>
            <a:r>
              <a:rPr lang="fr-FR" b="1" dirty="0"/>
              <a:t>Docker</a:t>
            </a:r>
            <a:r>
              <a:rPr lang="fr-FR" dirty="0"/>
              <a:t>, </a:t>
            </a:r>
            <a:r>
              <a:rPr lang="fr-FR" b="1" dirty="0"/>
              <a:t>CI/CD</a:t>
            </a:r>
            <a:r>
              <a:rPr lang="fr-FR" dirty="0"/>
              <a:t>, ou serveur</a:t>
            </a:r>
            <a:r>
              <a:rPr lang="fr-FR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Exemples :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9750" y="3613376"/>
            <a:ext cx="5491666" cy="21093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29644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Exemple avec Docker / Docker Compose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 err="1"/>
              <a:t>Dockerfile</a:t>
            </a:r>
            <a:endParaRPr lang="fr-FR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4022" y="2806667"/>
            <a:ext cx="6339155" cy="28646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85204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4826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docker-</a:t>
            </a:r>
            <a:r>
              <a:rPr lang="fr-FR" dirty="0" err="1"/>
              <a:t>compose.yml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1829" y="1530849"/>
            <a:ext cx="6935056" cy="4425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70482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9484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Points clés pour un environnement </a:t>
            </a:r>
            <a:r>
              <a:rPr lang="fr-FR" i="1" dirty="0"/>
              <a:t>stage</a:t>
            </a:r>
            <a:r>
              <a:rPr lang="fr-FR" dirty="0"/>
              <a:t> réussi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320" y="1900719"/>
            <a:ext cx="9739900" cy="4263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04667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291</TotalTime>
  <Words>1510</Words>
  <Application>Microsoft Office PowerPoint</Application>
  <PresentationFormat>Grand écran</PresentationFormat>
  <Paragraphs>203</Paragraphs>
  <Slides>79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79</vt:i4>
      </vt:variant>
    </vt:vector>
  </HeadingPairs>
  <TitlesOfParts>
    <vt:vector size="83" baseType="lpstr">
      <vt:lpstr>Georgia</vt:lpstr>
      <vt:lpstr>Trebuchet MS</vt:lpstr>
      <vt:lpstr>Wingdings</vt:lpstr>
      <vt:lpstr>Type de bois</vt:lpstr>
      <vt:lpstr>SPRING DATA</vt:lpstr>
      <vt:lpstr>Spring DATA</vt:lpstr>
      <vt:lpstr>Spring DATA</vt:lpstr>
      <vt:lpstr>Spring Data JPA</vt:lpstr>
      <vt:lpstr>Configuration de la base de données – PostgreSQL -</vt:lpstr>
      <vt:lpstr>Configuration de la base de données – MySQL -</vt:lpstr>
      <vt:lpstr>Mise en place de Spring Data</vt:lpstr>
      <vt:lpstr>Test</vt:lpstr>
      <vt:lpstr>La classe Main</vt:lpstr>
      <vt:lpstr>Amélioration Spring Data</vt:lpstr>
      <vt:lpstr>TEST</vt:lpstr>
      <vt:lpstr>SPRING BOOT</vt:lpstr>
      <vt:lpstr>Introduction</vt:lpstr>
      <vt:lpstr>Avantages</vt:lpstr>
      <vt:lpstr>Simplicité et standardisation</vt:lpstr>
      <vt:lpstr>Indépendance entre le client et le serveur</vt:lpstr>
      <vt:lpstr>Scalabilité et performance</vt:lpstr>
      <vt:lpstr>Séparation des responsabilités</vt:lpstr>
      <vt:lpstr>Sécurité et flexibilité</vt:lpstr>
      <vt:lpstr>Compatibilité avec différentes plateformes</vt:lpstr>
      <vt:lpstr>Exemple d'usage</vt:lpstr>
      <vt:lpstr>Architecture</vt:lpstr>
      <vt:lpstr>Exemple 1</vt:lpstr>
      <vt:lpstr>Exemple 2</vt:lpstr>
      <vt:lpstr>Exemple 3</vt:lpstr>
      <vt:lpstr>Cas pratique</vt:lpstr>
      <vt:lpstr>TP : Module “Gestion des Employés” – CNSS Application </vt:lpstr>
      <vt:lpstr>Structure du projet</vt:lpstr>
      <vt:lpstr>Configuration de la base de données (application.yml)</vt:lpstr>
      <vt:lpstr>Entité JPA – Employee.java</vt:lpstr>
      <vt:lpstr>Test</vt:lpstr>
      <vt:lpstr>Utiliser Swagger / OpenAPI dans Spring Boot</vt:lpstr>
      <vt:lpstr>Objectifs</vt:lpstr>
      <vt:lpstr>qu’est-ce que Swagger / OpenAPI ?</vt:lpstr>
      <vt:lpstr>Intégration dans un projet Spring Boot</vt:lpstr>
      <vt:lpstr>Lancer l’application</vt:lpstr>
      <vt:lpstr>Exemple concret CNSS Classe modèle : Affilie.java</vt:lpstr>
      <vt:lpstr>Contrôleur : AffilieController.java</vt:lpstr>
      <vt:lpstr>Résultat visuel</vt:lpstr>
      <vt:lpstr>Bonnes pratiques</vt:lpstr>
      <vt:lpstr>Utiliser les annotations Swagger pour enrichir la documentation</vt:lpstr>
      <vt:lpstr>Toujours documenter les codes de retour (200, 404, 500)</vt:lpstr>
      <vt:lpstr>Personnaliser la page Swagger (nom, description, contact)</vt:lpstr>
      <vt:lpstr>Utiliser Swagger comme contrat</vt:lpstr>
      <vt:lpstr>Conclusion</vt:lpstr>
      <vt:lpstr>Repository – EmployeeRepository.java</vt:lpstr>
      <vt:lpstr>Service – EmployeeService.java</vt:lpstr>
      <vt:lpstr>Contrôleur REST – EmployeeController.java</vt:lpstr>
      <vt:lpstr>Utiliser Swagger / OpenAPI dans Spring Boot</vt:lpstr>
      <vt:lpstr>Objectifs</vt:lpstr>
      <vt:lpstr>qu’est-ce que Swagger / OpenAPI ?</vt:lpstr>
      <vt:lpstr>Intégration dans un projet Spring Boot</vt:lpstr>
      <vt:lpstr>Lancer l’application</vt:lpstr>
      <vt:lpstr>Exemple concret CNSS Classe modèle : Affilie.java</vt:lpstr>
      <vt:lpstr>Contrôleur : AffilieController.java</vt:lpstr>
      <vt:lpstr>Résultat visuel</vt:lpstr>
      <vt:lpstr>Bonnes pratiques</vt:lpstr>
      <vt:lpstr>Utiliser les annotations Swagger pour enrichir la documentation</vt:lpstr>
      <vt:lpstr>Toujours documenter les codes de retour (200, 404, 500)</vt:lpstr>
      <vt:lpstr>Personnaliser la page Swagger (nom, description, contact)</vt:lpstr>
      <vt:lpstr>Utiliser Swagger comme contrat</vt:lpstr>
      <vt:lpstr>Conclusion</vt:lpstr>
      <vt:lpstr>Comment préparer proprement les environnements?</vt:lpstr>
      <vt:lpstr>Principe général : les Spring Profiles</vt:lpstr>
      <vt:lpstr>Le profil actif</vt:lpstr>
      <vt:lpstr>Structure typique des fichiers application.yml</vt:lpstr>
      <vt:lpstr>application.yml (général)</vt:lpstr>
      <vt:lpstr>Explication</vt:lpstr>
      <vt:lpstr>application-dev.yml (local)</vt:lpstr>
      <vt:lpstr>Explication</vt:lpstr>
      <vt:lpstr>application-stage.yml (préproduction)</vt:lpstr>
      <vt:lpstr>Explication </vt:lpstr>
      <vt:lpstr>application-prod.yml (production)</vt:lpstr>
      <vt:lpstr>Explication </vt:lpstr>
      <vt:lpstr>Vue d’ensemble des 3 environnements CNSS</vt:lpstr>
      <vt:lpstr>Variables d’environnement et secrets</vt:lpstr>
      <vt:lpstr>Exemple avec Docker / Docker Compose</vt:lpstr>
      <vt:lpstr>docker-compose.yml</vt:lpstr>
      <vt:lpstr>Points clés pour un environnement stage réussi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DATA</dc:title>
  <dc:creator>admin</dc:creator>
  <cp:lastModifiedBy>admin</cp:lastModifiedBy>
  <cp:revision>39</cp:revision>
  <dcterms:created xsi:type="dcterms:W3CDTF">2025-10-28T01:37:33Z</dcterms:created>
  <dcterms:modified xsi:type="dcterms:W3CDTF">2025-11-04T09:13:15Z</dcterms:modified>
</cp:coreProperties>
</file>